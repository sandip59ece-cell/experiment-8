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72C4A"/>
                </a:solidFill>
              </a:defRPr>
            </a:pPr>
            <a:r>
              <a:t>Experiment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01168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69B4"/>
                </a:solidFill>
              </a:defRPr>
            </a:pPr>
            <a:r>
              <a:t>Matched Filtering, ISI and Eye Diagrams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657600"/>
            <a:ext cx="1060704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3749039"/>
            <a:ext cx="1035100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C4A"/>
                </a:solidFill>
              </a:defRPr>
            </a:pPr>
            <a:r>
              <a:t>Simulation focus</a:t>
            </a:r>
          </a:p>
          <a:p>
            <a:pPr>
              <a:defRPr sz="1150">
                <a:solidFill>
                  <a:srgbClr val="232323"/>
                </a:solidFill>
              </a:defRPr>
            </a:pPr>
            <a:r>
              <a:t>BPSK → RRC pulse shaping → AWGN → RRC matched filter → delay compensation → sampling →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38544"/>
            <a:ext cx="10972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Experiment 8 • Matched Filtering, ISI and Eye Diagrams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A"/>
                </a:solidFill>
              </a:defRPr>
            </a:pPr>
            <a:r>
              <a:t>1. Objectives, tasks and required visualizations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97280"/>
            <a:ext cx="534924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188720"/>
            <a:ext cx="509320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C4A"/>
                </a:solidFill>
              </a:defRPr>
            </a:pPr>
            <a:r>
              <a:t>Objectives</a:t>
            </a:r>
          </a:p>
          <a:p>
            <a:pPr>
              <a:defRPr sz="1150">
                <a:solidFill>
                  <a:srgbClr val="232323"/>
                </a:solidFill>
              </a:defRPr>
            </a:pPr>
            <a:r>
              <a:t>• Demonstrate matched-filter reception.</a:t>
            </a:r>
            <a:br/>
            <a:r>
              <a:t>• Use eye diagrams to identify noise, ISI and timing sensitivity.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349240" cy="2331720"/>
          </a:xfrm>
          <a:prstGeom prst="roundRect">
            <a:avLst/>
          </a:prstGeom>
          <a:solidFill>
            <a:srgbClr val="EFF5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5936" y="1188720"/>
            <a:ext cx="5093207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C4A"/>
                </a:solidFill>
              </a:defRPr>
            </a:pPr>
            <a:r>
              <a:t>Implementation tasks</a:t>
            </a:r>
          </a:p>
          <a:p>
            <a:pPr>
              <a:defRPr sz="1150">
                <a:solidFill>
                  <a:srgbClr val="232323"/>
                </a:solidFill>
              </a:defRPr>
            </a:pPr>
            <a:r>
              <a:t>28. BPSK through RRC pulse shaping + AWGN.</a:t>
            </a:r>
            <a:br/>
            <a:r>
              <a:t>29. Matched RRC filtering + delay compensation.</a:t>
            </a:r>
            <a:br/>
            <a:r>
              <a:t>30. Vary SNR, roll-off, span and sampling offset.</a:t>
            </a:r>
            <a:br/>
            <a:r>
              <a:t>31. Introduce a multipath ISI channel.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337560"/>
            <a:ext cx="10972800" cy="1051560"/>
          </a:xfrm>
          <a:prstGeom prst="roundRect">
            <a:avLst/>
          </a:prstGeom>
          <a:solidFill>
            <a:srgbClr val="EFF5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3429000"/>
            <a:ext cx="107167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C4A"/>
                </a:solidFill>
              </a:defRPr>
            </a:pPr>
            <a:r>
              <a:t>Required visualizations</a:t>
            </a:r>
          </a:p>
          <a:p>
            <a:pPr>
              <a:defRPr sz="1150">
                <a:solidFill>
                  <a:srgbClr val="232323"/>
                </a:solidFill>
              </a:defRPr>
            </a:pPr>
            <a:r>
              <a:t>Transmit/matched-filter output • Eye diagrams • Eye height vs SNR • BER vs sampling offset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663440"/>
            <a:ext cx="10972800" cy="914400"/>
          </a:xfrm>
          <a:prstGeom prst="roundRect">
            <a:avLst/>
          </a:prstGeom>
          <a:solidFill>
            <a:srgbClr val="FFF6E0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4754879"/>
            <a:ext cx="10716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C4A"/>
                </a:solidFill>
              </a:defRPr>
            </a:pPr>
            <a:r>
              <a:t>Mandatory validation</a:t>
            </a:r>
          </a:p>
          <a:p>
            <a:pPr>
              <a:defRPr sz="1150">
                <a:solidFill>
                  <a:srgbClr val="232323"/>
                </a:solidFill>
              </a:defRPr>
            </a:pPr>
            <a:r>
              <a:t>Confirm total cascade delay and show that detected symbols are taken only after delay removal.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38544"/>
            <a:ext cx="10972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Experiment 8 • Matched Filtering, ISI and Eye Diagrams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A"/>
                </a:solidFill>
              </a:defRPr>
            </a:pPr>
            <a:r>
              <a:t>2. Theory: BPSK, RRC and matched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32323"/>
                </a:solidFill>
              </a:defRPr>
            </a:pPr>
            <a:r>
              <a:t>• BPSK maps bit 1 to +1 and bit 0 to −1.</a:t>
            </a:r>
          </a:p>
          <a:p>
            <a:pPr>
              <a:spcAft>
                <a:spcPts val="600"/>
              </a:spcAft>
              <a:defRPr sz="1700">
                <a:solidFill>
                  <a:srgbClr val="232323"/>
                </a:solidFill>
              </a:defRPr>
            </a:pPr>
            <a:r>
              <a:t>• RRC pulse shaping controls bandwidth and provides a zero-ISI design when paired with a matched RRC filter.</a:t>
            </a:r>
          </a:p>
          <a:p>
            <a:pPr>
              <a:spcAft>
                <a:spcPts val="600"/>
              </a:spcAft>
              <a:defRPr sz="1700">
                <a:solidFill>
                  <a:srgbClr val="232323"/>
                </a:solidFill>
              </a:defRPr>
            </a:pPr>
            <a:r>
              <a:t>• AWGN introduces random amplitude/phase-free noise in this real-valued BPSK model.</a:t>
            </a:r>
          </a:p>
          <a:p>
            <a:pPr>
              <a:spcAft>
                <a:spcPts val="600"/>
              </a:spcAft>
              <a:defRPr sz="1700">
                <a:solidFill>
                  <a:srgbClr val="232323"/>
                </a:solidFill>
              </a:defRPr>
            </a:pPr>
            <a:r>
              <a:t>• The receiver uses a matched filter, maximizing output SNR at the symbol decision instant.</a:t>
            </a:r>
          </a:p>
          <a:p>
            <a:pPr>
              <a:spcAft>
                <a:spcPts val="600"/>
              </a:spcAft>
              <a:defRPr sz="1700">
                <a:solidFill>
                  <a:srgbClr val="232323"/>
                </a:solidFill>
              </a:defRPr>
            </a:pPr>
            <a:r>
              <a:t>• Eye diagrams visualize vertical noise margin, horizontal timing margin and ISI-induced closure.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5257800"/>
            <a:ext cx="53035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5349240"/>
            <a:ext cx="5047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C4A"/>
                </a:solidFill>
              </a:defRPr>
            </a:pPr>
            <a:r>
              <a:t>Decision rule</a:t>
            </a:r>
          </a:p>
          <a:p>
            <a:pPr>
              <a:defRPr sz="1150">
                <a:solidFill>
                  <a:srgbClr val="232323"/>
                </a:solidFill>
              </a:defRPr>
            </a:pPr>
            <a:r>
              <a:t>ŷ[k] = 1 if y[nk] ≥ 0; otherwise ŷ[k] = 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5257800"/>
            <a:ext cx="53035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0216" y="5349240"/>
            <a:ext cx="5047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C4A"/>
                </a:solidFill>
              </a:defRPr>
            </a:pPr>
            <a:r>
              <a:t>Overall pulse</a:t>
            </a:r>
          </a:p>
          <a:p>
            <a:pPr>
              <a:defRPr sz="1150">
                <a:solidFill>
                  <a:srgbClr val="232323"/>
                </a:solidFill>
              </a:defRPr>
            </a:pPr>
            <a:r>
              <a:t>RRC at Tx × RRC at Rx → Raised-Cosine response.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38544"/>
            <a:ext cx="10972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Experiment 8 • Matched Filtering, ISI and Eye Diagrams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A"/>
                </a:solidFill>
              </a:defRPr>
            </a:pPr>
            <a:r>
              <a:t>3. Core equations and delay calculation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24128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115568"/>
            <a:ext cx="10442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72C4A"/>
                </a:solidFill>
              </a:defRPr>
            </a:pPr>
            <a:r>
              <a:t>BPSK mapping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a[k] = 2b[k] − 1,    b[k] ∈ {0,1}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920240"/>
            <a:ext cx="10442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72C4A"/>
                </a:solidFill>
              </a:defRPr>
            </a:pPr>
            <a:r>
              <a:t>Matched-filter output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y[n] = Σ r[m] hMF[n − m]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33472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724912"/>
            <a:ext cx="10442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72C4A"/>
                </a:solidFill>
              </a:defRPr>
            </a:pPr>
            <a:r>
              <a:t>BER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BER = Nerror / Nbits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38144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529584"/>
            <a:ext cx="10442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72C4A"/>
                </a:solidFill>
              </a:defRPr>
            </a:pPr>
            <a:r>
              <a:t>Sampling index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nk = Dtotal + k·sps + 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42816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334256"/>
            <a:ext cx="10442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72C4A"/>
                </a:solidFill>
              </a:defRPr>
            </a:pPr>
            <a:r>
              <a:t>One RRC group delay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Dfilter = span·sps /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47488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138928"/>
            <a:ext cx="10442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72C4A"/>
                </a:solidFill>
              </a:defRPr>
            </a:pPr>
            <a:r>
              <a:t>Cascade delay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Dtotal = 2Dfilter = span·sps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870448"/>
            <a:ext cx="10698480" cy="502920"/>
          </a:xfrm>
          <a:prstGeom prst="roundRect">
            <a:avLst/>
          </a:prstGeom>
          <a:solidFill>
            <a:srgbClr val="FFF6E0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5961888"/>
            <a:ext cx="10442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72C4A"/>
                </a:solidFill>
              </a:defRPr>
            </a:pPr>
            <a:r>
              <a:t>Example used in this PPT</a:t>
            </a:r>
          </a:p>
          <a:p>
            <a:pPr>
              <a:defRPr sz="1050">
                <a:solidFill>
                  <a:srgbClr val="232323"/>
                </a:solidFill>
              </a:defRPr>
            </a:pPr>
            <a:r>
              <a:t>span = 8 symbols, sps = 8 samples/symbol → Dfilter = 32 samples → Dtotal = 64 samples.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638544"/>
            <a:ext cx="10972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Experiment 8 • Matched Filtering, ISI and Eye Diagrams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A"/>
                </a:solidFill>
              </a:defRPr>
            </a:pPr>
            <a:r>
              <a:t>4. BPSK matched-filter receiver block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2103120"/>
            <a:ext cx="123444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C4A"/>
                </a:solidFill>
              </a:defRPr>
            </a:pPr>
            <a:r>
              <a:t>Random</a:t>
            </a:r>
            <a:br/>
            <a:r>
              <a:t>bits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645920" y="2679192"/>
            <a:ext cx="365760" cy="0"/>
          </a:xfrm>
          <a:prstGeom prst="line">
            <a:avLst/>
          </a:prstGeom>
          <a:ln>
            <a:solidFill>
              <a:srgbClr val="646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011680" y="2103120"/>
            <a:ext cx="123444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C4A"/>
                </a:solidFill>
              </a:defRPr>
            </a:pPr>
            <a:r>
              <a:t>BPSK</a:t>
            </a:r>
            <a:br/>
            <a:r>
              <a:t>mapper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46120" y="2679192"/>
            <a:ext cx="365760" cy="0"/>
          </a:xfrm>
          <a:prstGeom prst="line">
            <a:avLst/>
          </a:prstGeom>
          <a:ln>
            <a:solidFill>
              <a:srgbClr val="646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611880" y="2103120"/>
            <a:ext cx="123444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C4A"/>
                </a:solidFill>
              </a:defRPr>
            </a:pPr>
            <a:r>
              <a:t>RRC</a:t>
            </a:r>
            <a:br/>
            <a:r>
              <a:t>shaper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46320" y="2679192"/>
            <a:ext cx="365760" cy="0"/>
          </a:xfrm>
          <a:prstGeom prst="line">
            <a:avLst/>
          </a:prstGeom>
          <a:ln>
            <a:solidFill>
              <a:srgbClr val="646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212080" y="2103120"/>
            <a:ext cx="1234440" cy="1143000"/>
          </a:xfrm>
          <a:prstGeom prst="roundRect">
            <a:avLst/>
          </a:prstGeom>
          <a:solidFill>
            <a:srgbClr val="FFF6E0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C4A"/>
                </a:solidFill>
              </a:defRPr>
            </a:pPr>
            <a:r>
              <a:t>AWGN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46520" y="2679192"/>
            <a:ext cx="365760" cy="0"/>
          </a:xfrm>
          <a:prstGeom prst="line">
            <a:avLst/>
          </a:prstGeom>
          <a:ln>
            <a:solidFill>
              <a:srgbClr val="646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12280" y="2103120"/>
            <a:ext cx="123444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C4A"/>
                </a:solidFill>
              </a:defRPr>
            </a:pPr>
            <a:r>
              <a:t>RRC matched</a:t>
            </a:r>
            <a:br/>
            <a:r>
              <a:t>filter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46720" y="2679192"/>
            <a:ext cx="411480" cy="0"/>
          </a:xfrm>
          <a:prstGeom prst="line">
            <a:avLst/>
          </a:prstGeom>
          <a:ln>
            <a:solidFill>
              <a:srgbClr val="646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458200" y="2103120"/>
            <a:ext cx="1234440" cy="1143000"/>
          </a:xfrm>
          <a:prstGeom prst="roundRect">
            <a:avLst/>
          </a:prstGeom>
          <a:solidFill>
            <a:srgbClr val="FFF6E0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C4A"/>
                </a:solidFill>
              </a:defRPr>
            </a:pPr>
            <a:r>
              <a:t>Delay</a:t>
            </a:r>
            <a:br/>
            <a:r>
              <a:t>remove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92640" y="2679192"/>
            <a:ext cx="411480" cy="0"/>
          </a:xfrm>
          <a:prstGeom prst="line">
            <a:avLst/>
          </a:prstGeom>
          <a:ln>
            <a:solidFill>
              <a:srgbClr val="646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20" y="2103120"/>
            <a:ext cx="123444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2C4A"/>
                </a:solidFill>
              </a:defRPr>
            </a:pPr>
            <a:r>
              <a:t>Sampler +</a:t>
            </a:r>
            <a:br/>
            <a:r>
              <a:t>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069080"/>
            <a:ext cx="10332720" cy="1234440"/>
          </a:xfrm>
          <a:prstGeom prst="roundRect">
            <a:avLst/>
          </a:prstGeom>
          <a:solidFill>
            <a:srgbClr val="FFF6E0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4160520"/>
            <a:ext cx="1007668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C4A"/>
                </a:solidFill>
              </a:defRPr>
            </a:pPr>
            <a:r>
              <a:t>Delay checkpoint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Tx RRC delay = 32 samples; Rx matched RRC delay = 32 samples; total = 64 samples. The first valid decision is taken after this 64-sample delay.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638544"/>
            <a:ext cx="10972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Experiment 8 • Matched Filtering, ISI and Eye Diagrams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A"/>
                </a:solidFill>
              </a:defRPr>
            </a:pPr>
            <a:r>
              <a:t>5. Python implementation: the essential receiver logic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51560"/>
            <a:ext cx="10972800" cy="4526280"/>
          </a:xfrm>
          <a:prstGeom prst="roundRect">
            <a:avLst/>
          </a:prstGeom>
          <a:solidFill>
            <a:srgbClr val="F8F9FB"/>
          </a:solidFill>
          <a:ln>
            <a:solidFill>
              <a:srgbClr val="CD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143000"/>
            <a:ext cx="10735056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323"/>
                </a:solidFill>
                <a:latin typeface="Consolas"/>
              </a:defRPr>
            </a:pPr>
            <a:r>
              <a:t>symbols = 2*bits.astype(float) - 1</a:t>
            </a:r>
            <a:br/>
            <a:r>
              <a:t>up = np.zeros(len(symbols)*sps)</a:t>
            </a:r>
            <a:br/>
            <a:r>
              <a:t>up[::sps] = symbols</a:t>
            </a:r>
            <a:br/>
            <a:br/>
            <a:r>
              <a:t>h = rrc_filter(beta, span, sps)</a:t>
            </a:r>
            <a:br/>
            <a:r>
              <a:t>tx = np.convolve(up, h)</a:t>
            </a:r>
            <a:br/>
            <a:r>
              <a:t>rx = add_awgn(tx, snr_db, rng)</a:t>
            </a:r>
            <a:br/>
            <a:r>
              <a:t>mf = np.convolve(rx, h)</a:t>
            </a:r>
            <a:br/>
            <a:br/>
            <a:r>
              <a:t>D_total = span*sps</a:t>
            </a:r>
            <a:br/>
            <a:r>
              <a:t>sample_index = D_total + np.arange(len(symbols))*sps</a:t>
            </a:r>
            <a:br/>
            <a:r>
              <a:t>detected = (mf[sample_index] &gt;= 0).astype(int)</a:t>
            </a:r>
            <a:br/>
            <a:r>
              <a:t>ber = np.mean(detected != bits[:len(detected)])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42432"/>
            <a:ext cx="10698480" cy="640080"/>
          </a:xfrm>
          <a:prstGeom prst="roundRect">
            <a:avLst/>
          </a:prstGeom>
          <a:solidFill>
            <a:srgbClr val="EFF5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5833872"/>
            <a:ext cx="1044244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C4A"/>
                </a:solidFill>
              </a:defRPr>
            </a:pPr>
            <a:r>
              <a:t>Reusable parameters</a:t>
            </a:r>
          </a:p>
          <a:p>
            <a:pPr>
              <a:defRPr sz="1150">
                <a:solidFill>
                  <a:srgbClr val="232323"/>
                </a:solidFill>
              </a:defRPr>
            </a:pPr>
            <a:r>
              <a:t>beta, span, sps, snr_db and sampling offset Δ are exposed as parameters, so the same functions can be reused for the complete experiment.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38544"/>
            <a:ext cx="10972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Experiment 8 • Matched Filtering, ISI and Eye Diagrams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A"/>
                </a:solidFill>
              </a:defRPr>
            </a:pPr>
            <a:r>
              <a:t>6. Transmit waveform and matched-filter output</a:t>
            </a:r>
          </a:p>
        </p:txBody>
      </p:sp>
      <p:pic>
        <p:nvPicPr>
          <p:cNvPr id="3" name="Picture 2" descr="01_tx_matched_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10972800" cy="58521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532120"/>
            <a:ext cx="10698480" cy="685800"/>
          </a:xfrm>
          <a:prstGeom prst="roundRect">
            <a:avLst/>
          </a:prstGeom>
          <a:solidFill>
            <a:srgbClr val="EFF5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5623559"/>
            <a:ext cx="10442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C4A"/>
                </a:solidFill>
              </a:defRPr>
            </a:pPr>
            <a:r>
              <a:t>Observation</a:t>
            </a:r>
          </a:p>
          <a:p>
            <a:pPr>
              <a:defRPr sz="1150">
                <a:solidFill>
                  <a:srgbClr val="232323"/>
                </a:solidFill>
              </a:defRPr>
            </a:pPr>
            <a:r>
              <a:t>The matched-filter output concentrates pulse energy at the correct symbol instants, improving the reliability of threshold decisions.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38544"/>
            <a:ext cx="10972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Experiment 8 • Matched Filtering, ISI and Eye Diagrams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A"/>
                </a:solidFill>
              </a:defRPr>
            </a:pPr>
            <a:r>
              <a:t>7. Eye diagram after matched filtering</a:t>
            </a:r>
          </a:p>
        </p:txBody>
      </p:sp>
      <p:pic>
        <p:nvPicPr>
          <p:cNvPr id="3" name="Picture 2" descr="02_ey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78992"/>
            <a:ext cx="6995160" cy="4197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8120" y="141732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• Vertical opening → noise margin.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• Horizontal opening → timing tolerance.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• Eye closure → stronger noise, ISI or timing error.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• Center dashed line → nominal symbol sampling phase.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4709160"/>
            <a:ext cx="356616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46136" y="4800600"/>
            <a:ext cx="33101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C4A"/>
                </a:solidFill>
              </a:defRPr>
            </a:pPr>
            <a:r>
              <a:t>AI-ready prompt connection</a:t>
            </a:r>
          </a:p>
          <a:p>
            <a:pPr>
              <a:defRPr sz="1150">
                <a:solidFill>
                  <a:srgbClr val="232323"/>
                </a:solidFill>
              </a:defRPr>
            </a:pPr>
            <a:r>
              <a:t>The eye function should operate on the matched-filter output and use the compensated delay when selecting symbol-centered traces.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38544"/>
            <a:ext cx="10972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Experiment 8 • Matched Filtering, ISI and Eye Diagrams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A"/>
                </a:solidFill>
              </a:defRPr>
            </a:pPr>
            <a:r>
              <a:t>8. Performance: BER and eye height versus SNR</a:t>
            </a:r>
          </a:p>
        </p:txBody>
      </p:sp>
      <p:pic>
        <p:nvPicPr>
          <p:cNvPr id="3" name="Picture 2" descr="03_ber_vs_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623560" cy="3388555"/>
          </a:xfrm>
          <a:prstGeom prst="rect">
            <a:avLst/>
          </a:prstGeom>
        </p:spPr>
      </p:pic>
      <p:pic>
        <p:nvPicPr>
          <p:cNvPr id="4" name="Picture 3" descr="04_eye_height_vs_sn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51560"/>
            <a:ext cx="5349240" cy="32232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532120"/>
            <a:ext cx="10698480" cy="713232"/>
          </a:xfrm>
          <a:prstGeom prst="roundRect">
            <a:avLst/>
          </a:prstGeom>
          <a:solidFill>
            <a:srgbClr val="EFF5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5623559"/>
            <a:ext cx="10442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C4A"/>
                </a:solidFill>
              </a:defRPr>
            </a:pPr>
            <a:r>
              <a:t>Physical interpretation</a:t>
            </a:r>
          </a:p>
          <a:p>
            <a:pPr>
              <a:defRPr sz="1150">
                <a:solidFill>
                  <a:srgbClr val="232323"/>
                </a:solidFill>
              </a:defRPr>
            </a:pPr>
            <a:r>
              <a:t>Higher SNR reduces random decision errors and generally increases the visible eye opening. The exact numerical curve depends on the finite simulation length and random seed.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38544"/>
            <a:ext cx="10972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Experiment 8 • Matched Filtering, ISI and Eye Diagrams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A"/>
                </a:solidFill>
              </a:defRPr>
            </a:pPr>
            <a:r>
              <a:t>9. Timing sensitivity: BER versus sampling offset</a:t>
            </a:r>
          </a:p>
        </p:txBody>
      </p:sp>
      <p:pic>
        <p:nvPicPr>
          <p:cNvPr id="3" name="Picture 2" descr="05_ber_vs_sampling_off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6583680" cy="396708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52360" y="1325880"/>
            <a:ext cx="3886200" cy="1645920"/>
          </a:xfrm>
          <a:prstGeom prst="roundRect">
            <a:avLst/>
          </a:prstGeom>
          <a:solidFill>
            <a:srgbClr val="EFF5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0376" y="1417320"/>
            <a:ext cx="36301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C4A"/>
                </a:solidFill>
              </a:defRPr>
            </a:pPr>
            <a:r>
              <a:t>Expected trend</a:t>
            </a:r>
          </a:p>
          <a:p>
            <a:pPr>
              <a:defRPr sz="1150">
                <a:solidFill>
                  <a:srgbClr val="232323"/>
                </a:solidFill>
              </a:defRPr>
            </a:pPr>
            <a:r>
              <a:t>BER is normally lowest near the optimum eye-center sampling phase. Moving the sample by ±1, ±2, … samples reduces timing margin.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3383280"/>
            <a:ext cx="3886200" cy="1828800"/>
          </a:xfrm>
          <a:prstGeom prst="roundRect">
            <a:avLst/>
          </a:prstGeom>
          <a:solidFill>
            <a:srgbClr val="FFF6E0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0376" y="3474720"/>
            <a:ext cx="363016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C4A"/>
                </a:solidFill>
              </a:defRPr>
            </a:pPr>
            <a:r>
              <a:t>Diagnostic test</a:t>
            </a:r>
          </a:p>
          <a:p>
            <a:pPr>
              <a:defRPr sz="1150">
                <a:solidFill>
                  <a:srgbClr val="232323"/>
                </a:solidFill>
              </a:defRPr>
            </a:pPr>
            <a:r>
              <a:t>Compare Δ = 0 against positive and negative offsets at the same SNR. A sharp BER increase indicates timing sensitivity rather than a change in channel noise.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38544"/>
            <a:ext cx="10972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Experiment 8 • Matched Filtering, ISI and Eye Diagrams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A"/>
                </a:solidFill>
              </a:defRPr>
            </a:pPr>
            <a:r>
              <a:t>10. Roll-off factor β: pulse shape and eye diagram</a:t>
            </a:r>
          </a:p>
        </p:txBody>
      </p:sp>
      <p:pic>
        <p:nvPicPr>
          <p:cNvPr id="3" name="Picture 2" descr="06_rolloff_ey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78992"/>
            <a:ext cx="7452360" cy="23599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2440" y="1280160"/>
            <a:ext cx="3474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t>• β determines excess bandwidth.</a:t>
            </a:r>
          </a:p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t>• Changing β changes the time-domain pulse shape and transition behavior.</a:t>
            </a:r>
          </a:p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t>• Compare eye opening at equal SNR, span, sps and sampling phase.</a:t>
            </a:r>
          </a:p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t>• Use the same matched-filter design at the transmitter and receiver.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38544"/>
            <a:ext cx="10972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Experiment 8 • Matched Filtering, ISI and Eye Diagrams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A"/>
                </a:solidFill>
              </a:defRPr>
            </a:pPr>
            <a:r>
              <a:t>11. Multipath ISI extension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5303520" cy="1737360"/>
          </a:xfrm>
          <a:prstGeom prst="roundRect">
            <a:avLst/>
          </a:prstGeom>
          <a:solidFill>
            <a:srgbClr val="EFF5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1234440"/>
            <a:ext cx="50474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C4A"/>
                </a:solidFill>
              </a:defRPr>
            </a:pPr>
            <a:r>
              <a:t>Channel model</a:t>
            </a:r>
          </a:p>
          <a:p>
            <a:pPr>
              <a:defRPr sz="1150">
                <a:solidFill>
                  <a:srgbClr val="232323"/>
                </a:solidFill>
              </a:defRPr>
            </a:pPr>
            <a:r>
              <a:t>r[n] = s[n] + αs[n−d] + w[n]</a:t>
            </a:r>
            <a:br/>
            <a:br/>
            <a:r>
              <a:t>α = echo amplitude, d = echo delay.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43000"/>
            <a:ext cx="5303520" cy="1737360"/>
          </a:xfrm>
          <a:prstGeom prst="roundRect">
            <a:avLst/>
          </a:prstGeom>
          <a:solidFill>
            <a:srgbClr val="EFF5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5936" y="1234440"/>
            <a:ext cx="50474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C4A"/>
                </a:solidFill>
              </a:defRPr>
            </a:pPr>
            <a:r>
              <a:t>Effect on eye</a:t>
            </a:r>
          </a:p>
          <a:p>
            <a:pPr>
              <a:defRPr sz="1150">
                <a:solidFill>
                  <a:srgbClr val="232323"/>
                </a:solidFill>
              </a:defRPr>
            </a:pPr>
            <a:r>
              <a:t>A delayed copy of a previous symbol overlaps the current pulse. The resulting symbol-dependent distortion can close the eye even when AWGN is unchanged.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91840"/>
            <a:ext cx="10881360" cy="1417320"/>
          </a:xfrm>
          <a:prstGeom prst="roundRect">
            <a:avLst/>
          </a:prstGeom>
          <a:solidFill>
            <a:srgbClr val="EFF5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3383280"/>
            <a:ext cx="106253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C4A"/>
                </a:solidFill>
              </a:defRPr>
            </a:pPr>
            <a:r>
              <a:t>Suggested experiment</a:t>
            </a:r>
          </a:p>
          <a:p>
            <a:pPr>
              <a:defRPr sz="1150">
                <a:solidFill>
                  <a:srgbClr val="232323"/>
                </a:solidFill>
              </a:defRPr>
            </a:pPr>
            <a:r>
              <a:t>Fix SNR and sweep α = 0, 0.2, 0.4, 0.6. For each value, compare eye diagrams and BER. This separates multipath ISI from noise effects.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74920"/>
            <a:ext cx="10881360" cy="822960"/>
          </a:xfrm>
          <a:prstGeom prst="roundRect">
            <a:avLst/>
          </a:prstGeom>
          <a:solidFill>
            <a:srgbClr val="FFF6E0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5166359"/>
            <a:ext cx="106253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C4A"/>
                </a:solidFill>
              </a:defRPr>
            </a:pPr>
            <a:r>
              <a:t>Diagnosis</a:t>
            </a:r>
          </a:p>
          <a:p>
            <a:pPr>
              <a:defRPr sz="1150">
                <a:solidFill>
                  <a:srgbClr val="232323"/>
                </a:solidFill>
              </a:defRPr>
            </a:pPr>
            <a:r>
              <a:t>Noise → vertical spread. Timing error → horizontal closure. Multipath → deterministic, symbol-dependent distortion and eye closure.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38544"/>
            <a:ext cx="10972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Experiment 8 • Matched Filtering, ISI and Eye Diagrams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A"/>
                </a:solidFill>
              </a:defRPr>
            </a:pPr>
            <a:r>
              <a:t>12. AI-ready prompt from the experiment sheet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80160"/>
            <a:ext cx="10652760" cy="1691640"/>
          </a:xfrm>
          <a:prstGeom prst="roundRect">
            <a:avLst/>
          </a:prstGeom>
          <a:solidFill>
            <a:srgbClr val="F8F9FB"/>
          </a:solidFill>
          <a:ln>
            <a:solidFill>
              <a:srgbClr val="CD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371600"/>
            <a:ext cx="10415016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323"/>
                </a:solidFill>
                <a:latin typeface="Consolas"/>
              </a:defRPr>
            </a:pPr>
            <a:r>
              <a:t>Implement a reusable eye-diagram function without a communication toolbox.</a:t>
            </a:r>
            <a:br/>
            <a:r>
              <a:t>Show BPSK after matched filtering for several SNR values and identify the optimum</a:t>
            </a:r>
            <a:br/>
            <a:r>
              <a:t>sampling instant after compensating total filter delay.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10287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t>• Generate eye diagrams from matched-filter output.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t>• Calculate and display total cascade delay explicitly.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t>• Take symbol decisions only after delay compensation.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t>• Repeat for several SNR values and compare eye opening and BER.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t>• Expose β, span, sps, SNR and sampling offset as reusable parameters.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38544"/>
            <a:ext cx="10972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Experiment 8 • Matched Filtering, ISI and Eye Diagrams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A"/>
                </a:solidFill>
              </a:defRPr>
            </a:pPr>
            <a:r>
              <a:t>13. Observation and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The simulation demonstrates reliable BPSK reception using RRC pulse shaping and matched filtering. AWGN produces random amplitude fluctuations; increasing SNR reduces BER and normally makes the eye opening clearer. The matched-filter pair gives a raised-cosine overall response with an optimum symbol sampling instant. Sampling away from the eye centre reduces timing margin and increases BER. Changing the roll-off factor changes the pulse shape and bandwidth trade-off. The delay check is essential: for span = 8 symbols and sps = 8, each RRC filter contributes 32 samples, so the Tx + Rx cascade delay is 64 samples. Therefore, the receiver must compensate 64 samples before taking symbol decisions. Multipath extension can then be used to demonstrate ISI and diagnose eye closure.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5532120"/>
            <a:ext cx="10698480" cy="713232"/>
          </a:xfrm>
          <a:prstGeom prst="roundRect">
            <a:avLst/>
          </a:prstGeom>
          <a:solidFill>
            <a:srgbClr val="EFF5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5623559"/>
            <a:ext cx="10442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C4A"/>
                </a:solidFill>
              </a:defRPr>
            </a:pPr>
            <a:r>
              <a:t>Conclusion</a:t>
            </a:r>
          </a:p>
          <a:p>
            <a:pPr>
              <a:defRPr sz="1150">
                <a:solidFill>
                  <a:srgbClr val="232323"/>
                </a:solidFill>
              </a:defRPr>
            </a:pPr>
            <a:r>
              <a:t>Eye diagrams provide an intuitive view of noise, ISI and timing sensitivity, while BER provides a quantitative performance measure.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38544"/>
            <a:ext cx="10972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Experiment 8 • Matched Filtering, ISI and Eye Diagrams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A"/>
                </a:solidFill>
              </a:defRPr>
            </a:pPr>
            <a:r>
              <a:t>14. GitHub-ready project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97280"/>
            <a:ext cx="6629400" cy="4526280"/>
          </a:xfrm>
          <a:prstGeom prst="roundRect">
            <a:avLst/>
          </a:prstGeom>
          <a:solidFill>
            <a:srgbClr val="F8F9FB"/>
          </a:solidFill>
          <a:ln>
            <a:solidFill>
              <a:srgbClr val="CD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188720"/>
            <a:ext cx="6391656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  <a:latin typeface="Consolas"/>
              </a:defRPr>
            </a:pPr>
            <a:r>
              <a:t>experiment8_github_repo/</a:t>
            </a:r>
            <a:br/>
            <a:r>
              <a:t>├── experiment8_bpsk_simulation.py</a:t>
            </a:r>
            <a:br/>
            <a:r>
              <a:t>├── requirements.txt</a:t>
            </a:r>
            <a:br/>
            <a:r>
              <a:t>├── README.md</a:t>
            </a:r>
            <a:br/>
            <a:r>
              <a:t>├── results.txt</a:t>
            </a:r>
            <a:br/>
            <a:r>
              <a:t>├── 01_tx_matched_filter.png</a:t>
            </a:r>
            <a:br/>
            <a:r>
              <a:t>├── 02_eye_diagram.png</a:t>
            </a:r>
            <a:br/>
            <a:r>
              <a:t>├── 03_ber_vs_snr.png</a:t>
            </a:r>
            <a:br/>
            <a:r>
              <a:t>├── 04_eye_height_vs_snr.png</a:t>
            </a:r>
            <a:br/>
            <a:r>
              <a:t>├── 05_ber_vs_sampling_offset.png</a:t>
            </a:r>
            <a:br/>
            <a:r>
              <a:t>└── 06_rolloff_eye_comparison.png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35240" y="128016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t>• Create a GitHub repository and upload the folder contents.</a:t>
            </a:r>
          </a:p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t>• Install dependencies with pip install -r requirements.txt.</a:t>
            </a:r>
          </a:p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t>• Run python experiment8_bpsk_simulation.py.</a:t>
            </a:r>
          </a:p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t>• The generated PNG files can be used directly in the lab report.</a:t>
            </a:r>
          </a:p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t>• The README documents the delay-validation rule.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38544"/>
            <a:ext cx="10972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Experiment 8 • Matched Filtering, ISI and Eye Diagrams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4A"/>
                </a:solidFill>
              </a:defRPr>
            </a:pPr>
            <a:r>
              <a:t>15. Reproducibility and result record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143000"/>
            <a:ext cx="10698480" cy="4480560"/>
          </a:xfrm>
          <a:prstGeom prst="roundRect">
            <a:avLst/>
          </a:prstGeom>
          <a:solidFill>
            <a:srgbClr val="F8F9FB"/>
          </a:solidFill>
          <a:ln>
            <a:solidFill>
              <a:srgbClr val="CD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234440"/>
            <a:ext cx="10460736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323"/>
                </a:solidFill>
                <a:latin typeface="Consolas"/>
              </a:defRPr>
            </a:pPr>
            <a:r>
              <a:t>Experiment 8 simulation summary</a:t>
            </a:r>
            <a:br/>
            <a:r>
              <a:t>RRC roll-off beta = 0.35</a:t>
            </a:r>
            <a:br/>
            <a:r>
              <a:t>Span = 8 symbols</a:t>
            </a:r>
            <a:br/>
            <a:r>
              <a:t>Samples/symbol = 8</a:t>
            </a:r>
            <a:br/>
            <a:r>
              <a:t>Each RRC filter group delay = span*sps/2 = 32 samples</a:t>
            </a:r>
            <a:br/>
            <a:r>
              <a:t>Total cascade delay = span*sps = 64 samples</a:t>
            </a:r>
            <a:br/>
            <a:r>
              <a:t>Detection uses samples only after total delay compensation.</a:t>
            </a:r>
            <a:br/>
            <a:br/>
            <a:r>
              <a:t>BER vs SNR:</a:t>
            </a:r>
            <a:br/>
            <a:r>
              <a:t>   0 dB : 0.00166667</a:t>
            </a:r>
            <a:br/>
            <a:r>
              <a:t>   2 dB : 0.000333333</a:t>
            </a:r>
            <a:br/>
            <a:r>
              <a:t>   4 dB : 0</a:t>
            </a:r>
            <a:br/>
            <a:r>
              <a:t>   6 dB : 0</a:t>
            </a:r>
            <a:br/>
            <a:r>
              <a:t>   8 dB : 0</a:t>
            </a:r>
            <a:br/>
            <a:r>
              <a:t>  10 dB : 0</a:t>
            </a:r>
            <a:br/>
            <a:r>
              <a:t>  12 dB : 0</a:t>
            </a:r>
            <a:br/>
            <a:br/>
            <a:r>
              <a:t>BER vs sampling offset at 6 dB: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742432"/>
            <a:ext cx="10698480" cy="566928"/>
          </a:xfrm>
          <a:prstGeom prst="roundRect">
            <a:avLst/>
          </a:prstGeom>
          <a:solidFill>
            <a:srgbClr val="EFF5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5833872"/>
            <a:ext cx="10442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C4A"/>
                </a:solidFill>
              </a:defRPr>
            </a:pPr>
            <a:r>
              <a:t>Reproducibility</a:t>
            </a:r>
          </a:p>
          <a:p>
            <a:pPr>
              <a:defRPr sz="1150">
                <a:solidFill>
                  <a:srgbClr val="232323"/>
                </a:solidFill>
              </a:defRPr>
            </a:pPr>
            <a:r>
              <a:t>The script uses fixed random seeds for the demonstration and sweeps, so the included plots are reproducible on the same Python/NumPy/SciPy environment.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38544"/>
            <a:ext cx="10972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Experiment 8 • Matched Filtering, ISI and Eye Diagrams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